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471027" r:id="rId5"/>
    <p:sldId id="2147471427" r:id="rId6"/>
    <p:sldId id="2147471710" r:id="rId7"/>
    <p:sldId id="2147471041" r:id="rId8"/>
    <p:sldId id="2147471711" r:id="rId9"/>
    <p:sldId id="2147471327" r:id="rId10"/>
    <p:sldId id="2147471713" r:id="rId11"/>
    <p:sldId id="21474714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68A83-95F0-43F9-8A0F-E5FB8960B5A6}" v="1" dt="2026-02-28T17:11:19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CD84-6E60-405C-A1DA-A8E660F1B26B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CADB5-B309-439F-AFDE-8261232A1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1869-B6A6-1E92-9F85-2D22176D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97E1E-E8B4-06BD-B3B9-2EE502A01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F5852-2421-B95B-212E-426DD1B3A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078B7-F295-D88F-0AE4-8BB7E8601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825-F38E-45BB-92C1-043DE61C918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680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825-F38E-45BB-92C1-043DE61C918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89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82BC-4CA1-46C9-01D5-C1D65F40D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CEE5A-16E5-4F9F-A37C-12D6850F8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237B-609E-2E8E-90BF-82CA9358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1827-2DC7-5D83-F97D-1CECB5DB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155A-C311-3860-C519-A8C317C7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8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CF40-13F0-C88E-35C3-BCCE2746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CEEF0-1B91-147B-045E-A5923EFC2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85E6A-0B97-440D-0246-4B812521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37418-721D-3FD4-A1EF-97F074AE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C598-B108-63CE-165C-2AADE316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5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1BAB-F77F-7638-E801-7AACDDC2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7BEF6-53FC-6425-BA73-A680C423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490C1-B315-3CCD-6222-0723392D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EDF95-DBB9-C170-F854-4BE75F24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B04D-DBB3-4EB9-55A2-E26B1C25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9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88C9-992E-676E-799D-8E795406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18A6A-113F-7FB9-F801-07794B1E4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56485-67AC-635E-1F36-C5ADA68FD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DD15F-EBE1-68E4-294C-D474F992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5BDBB-00F0-77F4-D952-968E4D23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D7B9C-52B2-A783-200E-20A4A8B7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7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5BDA-F82A-BFDE-7293-6A52B6F9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763CD-D903-954F-7631-8BB5EEE76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73E48-5A5C-965F-CF88-CD26CE70D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68BF4-906B-EE30-8130-0AAD9D9EA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E6C08-07A8-5F10-B731-177CC485E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02FA3-B2EB-95AD-EA3A-E668CD1B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6076B-959A-02BB-4A6D-D56381B5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5C704-ADA3-AD51-BF5C-178F8E38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DC24-91D7-BA59-562D-BB189D4D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BDCA2-A4D0-0AA5-C510-31DD52E2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01E22-46E3-E679-971E-9EFFA9A8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3AFDC-AAFD-135C-0BC9-4EB42BE6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25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22AC5-F45A-0B95-CA30-C0F34356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0B816-B105-20A2-C151-0BA041B7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3CA0B-7E1A-CE20-CFFC-2490049A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3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12F4-B10F-3330-B2B0-6C651AA6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E20E-25AD-D24B-4B01-7C53097AD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075EA-5799-B1CE-24A5-63E02DFDE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177FB-251D-9E8B-ED3C-1CD2C5A0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B8EA3-E32B-F55B-F149-39622250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E11C7-1A3D-AA4E-40D2-7BF7716A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4A1A-65DA-DA05-6876-1D9F7B45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9BCC7-0F79-4B56-1010-57C49E6CC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5C845-3CC7-1928-5494-F08EA6715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D117E-50A3-F39E-8BFB-4C93CCF1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3B011-35A0-7E4E-E020-9766184F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0357-AEC9-F85A-ED1D-5A68B16E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8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7088-FAED-1363-F201-EE3E3B82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04877-A270-082F-EBD7-48D12A91F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1E532-A421-E2AD-0AFE-AD2B30D0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DF996-5D36-B33F-2B17-2B635346E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74AE-2A7F-1FE4-0A32-268C231D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1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8DFC1-9FD6-D807-884F-D6DDDFFEA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FECCF-CE61-3CA0-E817-2BCC87461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B0B5-6FCD-E2D8-F176-1D1EC7A8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C77AB-D8C1-2823-A3C3-D490D58D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A4651-8A7D-5E95-771F-529E731E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24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– 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56B0056-E0F3-20B9-BB54-44E09DF01C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537" y="701886"/>
            <a:ext cx="4672584" cy="29077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5800"/>
              </a:lnSpc>
              <a:defRPr sz="5400"/>
            </a:lvl1pPr>
          </a:lstStyle>
          <a:p>
            <a:r>
              <a:rPr lang="en-US" noProof="0"/>
              <a:t>Title slide </a:t>
            </a:r>
            <a:br>
              <a:rPr lang="en-US" noProof="0"/>
            </a:br>
            <a:r>
              <a:rPr lang="en-US" noProof="0"/>
              <a:t>Click to add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02232A4-A218-ED0C-51BC-1FE1F57693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4173805"/>
            <a:ext cx="4698710" cy="76527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200" b="0"/>
            </a:lvl1pPr>
          </a:lstStyle>
          <a:p>
            <a:pPr lvl="0"/>
            <a:r>
              <a:rPr lang="en-US" noProof="0"/>
              <a:t>Name, role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pic>
        <p:nvPicPr>
          <p:cNvPr id="4" name="Image 8" descr="CGI Inc. logo">
            <a:extLst>
              <a:ext uri="{FF2B5EF4-FFF2-40B4-BE49-F238E27FC236}">
                <a16:creationId xmlns:a16="http://schemas.microsoft.com/office/drawing/2014/main" id="{820310F5-2710-E456-A1A7-4CEA7BDF8C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7134" y="5372173"/>
            <a:ext cx="1548656" cy="720650"/>
          </a:xfrm>
          <a:prstGeom prst="rect">
            <a:avLst/>
          </a:prstGeom>
        </p:spPr>
      </p:pic>
      <p:sp>
        <p:nvSpPr>
          <p:cNvPr id="8" name="Picture Placeholder 2" descr="Image placeholder. Click icon to add image. Images are available to download from the Brand Source image library.">
            <a:extLst>
              <a:ext uri="{FF2B5EF4-FFF2-40B4-BE49-F238E27FC236}">
                <a16:creationId xmlns:a16="http://schemas.microsoft.com/office/drawing/2014/main" id="{BAC6136A-72EF-317C-AA1F-00D8CA1A6A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7588" y="765175"/>
            <a:ext cx="5330952" cy="5330952"/>
          </a:xfrm>
          <a:prstGeom prst="rect">
            <a:avLst/>
          </a:prstGeom>
        </p:spPr>
        <p:txBody>
          <a:bodyPr rIns="0"/>
          <a:lstStyle>
            <a:lvl1pPr marL="0" indent="0">
              <a:buNone/>
              <a:defRPr sz="2400">
                <a:sym typeface="Wingdings" panose="05000000000000000000" pitchFamily="2" charset="2"/>
              </a:defRPr>
            </a:lvl1pPr>
          </a:lstStyle>
          <a:p>
            <a:r>
              <a:rPr lang="en-US" noProof="0"/>
              <a:t>Click icon to add image. Images are available to download from the Brand Source image library  brand.cgi.com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AF96E-3382-6845-A90C-34A0524FB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163033" y="6345144"/>
            <a:ext cx="365760" cy="18288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A096ED-76E6-2D8E-D62E-E554F7F1B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38600" y="6933865"/>
            <a:ext cx="4114800" cy="13716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648276-7BC7-CB2C-4DFC-34AD563DA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63034" y="6931152"/>
            <a:ext cx="261660" cy="137160"/>
          </a:xfrm>
        </p:spPr>
        <p:txBody>
          <a:bodyPr/>
          <a:lstStyle/>
          <a:p>
            <a:fld id="{525A3C56-E491-49B2-93F3-63532DF516BC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6F68B-4688-48F8-2E83-DA6703730D99}"/>
              </a:ext>
            </a:extLst>
          </p:cNvPr>
          <p:cNvSpPr/>
          <p:nvPr userDrawn="1"/>
        </p:nvSpPr>
        <p:spPr bwMode="gray">
          <a:xfrm>
            <a:off x="562708" y="6193030"/>
            <a:ext cx="11085341" cy="489124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US" sz="1600" b="1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2649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rge title +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7AC7F31-D848-7A42-9ED8-A1A89D340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19403"/>
            <a:ext cx="4567237" cy="2508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70092EE-877E-F647-8457-99B829A5343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6764" y="3429000"/>
            <a:ext cx="4567237" cy="266382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spcBef>
                <a:spcPts val="500"/>
              </a:spcBef>
              <a:buClr>
                <a:schemeClr val="tx1"/>
              </a:buClr>
              <a:buSzPct val="110000"/>
              <a:buFont typeface="Arial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263525" indent="-263525">
              <a:spcBef>
                <a:spcPts val="500"/>
              </a:spcBef>
              <a:buClr>
                <a:schemeClr val="tx1"/>
              </a:buClr>
              <a:buSzPct val="110000"/>
              <a:buFont typeface="Arial" pitchFamily="34" charset="0"/>
              <a:buChar char="•"/>
              <a:defRPr sz="2000" baseline="0">
                <a:solidFill>
                  <a:schemeClr val="tx1"/>
                </a:solidFill>
                <a:latin typeface="Arial" pitchFamily="34" charset="0"/>
              </a:defRPr>
            </a:lvl2pPr>
            <a:lvl3pPr marL="536575" indent="-273050">
              <a:spcBef>
                <a:spcPts val="500"/>
              </a:spcBef>
              <a:buClr>
                <a:schemeClr val="tx1"/>
              </a:buClr>
              <a:buSzTx/>
              <a:buFont typeface="Calibri" panose="020F0502020204030204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</a:defRPr>
            </a:lvl3pPr>
            <a:lvl4pPr marL="811213" indent="-274638">
              <a:spcBef>
                <a:spcPts val="5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1074738" indent="-263525">
              <a:spcBef>
                <a:spcPts val="500"/>
              </a:spcBef>
              <a:buClr>
                <a:schemeClr val="tx1"/>
              </a:buClr>
              <a:buSzPct val="110000"/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1136650" indent="-215900">
              <a:spcBef>
                <a:spcPts val="500"/>
              </a:spcBef>
              <a:buClr>
                <a:schemeClr val="accent1"/>
              </a:buClr>
              <a:buFont typeface="Verdana" pitchFamily="34" charset="0"/>
              <a:buChar char="•"/>
              <a:defRPr sz="1400" baseline="0">
                <a:solidFill>
                  <a:schemeClr val="tx1"/>
                </a:solidFill>
              </a:defRPr>
            </a:lvl6pPr>
            <a:lvl7pPr marL="1343025" indent="-228600"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Verdana" pitchFamily="34" charset="0"/>
              <a:buChar char="•"/>
              <a:defRPr sz="1400" baseline="0">
                <a:solidFill>
                  <a:schemeClr val="tx1"/>
                </a:solidFill>
              </a:defRPr>
            </a:lvl7pPr>
          </a:lstStyle>
          <a:p>
            <a:pPr lvl="0"/>
            <a:r>
              <a:rPr lang="en-US" noProof="0"/>
              <a:t>Click to add text or select icon to insert content.</a:t>
            </a:r>
          </a:p>
        </p:txBody>
      </p:sp>
      <p:sp>
        <p:nvSpPr>
          <p:cNvPr id="6" name="Picture Placeholder 2" descr="Image placeholder. Click icon to add image. Images are available to download from the Brand Source image library.&#10;">
            <a:extLst>
              <a:ext uri="{FF2B5EF4-FFF2-40B4-BE49-F238E27FC236}">
                <a16:creationId xmlns:a16="http://schemas.microsoft.com/office/drawing/2014/main" id="{84A30FA9-EFE0-BD49-888A-59263379F2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765174"/>
            <a:ext cx="5329239" cy="532765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>
                <a:sym typeface="Wingdings" panose="05000000000000000000" pitchFamily="2" charset="2"/>
              </a:defRPr>
            </a:lvl1pPr>
          </a:lstStyle>
          <a:p>
            <a:r>
              <a:rPr lang="en-US" noProof="0"/>
              <a:t>Click icon to add image. Images are available to download from the Brand Source image library  brand.cgi.com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D02D09-217C-4FEB-7C49-069EB2FC1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94A19A-67D7-850F-8887-B4BFAF0A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25A3C56-E491-49B2-93F3-63532DF516B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173029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305D69-9C61-BDCE-2371-631ABA70F1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Content slide with right side image – click to add title </a:t>
            </a:r>
          </a:p>
        </p:txBody>
      </p:sp>
      <p:sp>
        <p:nvSpPr>
          <p:cNvPr id="4" name="Content Placeholder 20">
            <a:extLst>
              <a:ext uri="{FF2B5EF4-FFF2-40B4-BE49-F238E27FC236}">
                <a16:creationId xmlns:a16="http://schemas.microsoft.com/office/drawing/2014/main" id="{FC187CB4-59E4-E948-8C18-9F705140F8E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6763" y="1527176"/>
            <a:ext cx="7615237" cy="4565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500"/>
              </a:spcBef>
              <a:buClr>
                <a:schemeClr val="tx1"/>
              </a:buClr>
              <a:buSzPct val="110000"/>
              <a:buFont typeface="Arial" pitchFamily="34" charset="0"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263525" indent="-263525">
              <a:spcBef>
                <a:spcPts val="500"/>
              </a:spcBef>
              <a:buClr>
                <a:schemeClr val="tx1"/>
              </a:buClr>
              <a:buSzPct val="110000"/>
              <a:buFont typeface="Arial" pitchFamily="34" charset="0"/>
              <a:buChar char="•"/>
              <a:defRPr sz="2000" baseline="0">
                <a:solidFill>
                  <a:schemeClr val="tx1"/>
                </a:solidFill>
                <a:latin typeface="Arial" pitchFamily="34" charset="0"/>
              </a:defRPr>
            </a:lvl2pPr>
            <a:lvl3pPr marL="536575" indent="-273050">
              <a:spcBef>
                <a:spcPts val="500"/>
              </a:spcBef>
              <a:buClr>
                <a:schemeClr val="tx1"/>
              </a:buClr>
              <a:buSzTx/>
              <a:buFont typeface="Calibri" panose="020F0502020204030204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</a:defRPr>
            </a:lvl3pPr>
            <a:lvl4pPr marL="811213" indent="-274638">
              <a:spcBef>
                <a:spcPts val="5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1074738" indent="-263525">
              <a:spcBef>
                <a:spcPts val="500"/>
              </a:spcBef>
              <a:buClr>
                <a:schemeClr val="tx1"/>
              </a:buClr>
              <a:buSzPct val="110000"/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1136650" indent="-215900"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Verdana" pitchFamily="34" charset="0"/>
              <a:buChar char="•"/>
              <a:defRPr sz="1400" baseline="0">
                <a:solidFill>
                  <a:schemeClr val="tx1"/>
                </a:solidFill>
              </a:defRPr>
            </a:lvl6pPr>
            <a:lvl7pPr marL="1343025" indent="-228600"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Verdana" pitchFamily="34" charset="0"/>
              <a:buChar char="•"/>
              <a:defRPr sz="1400" baseline="0">
                <a:solidFill>
                  <a:schemeClr val="tx1"/>
                </a:solidFill>
              </a:defRPr>
            </a:lvl7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itchFamily="34" charset="0"/>
              <a:buNone/>
              <a:tabLst/>
              <a:defRPr/>
            </a:pPr>
            <a:r>
              <a:rPr lang="en-US" noProof="0"/>
              <a:t>Click to add text or select an icon to insert associated content (i.e., table, chart, picture or video). Images and video are available to download from brand.cgi.com.</a:t>
            </a:r>
          </a:p>
          <a:p>
            <a:pPr lvl="0"/>
            <a:endParaRPr lang="en-US" noProof="0"/>
          </a:p>
        </p:txBody>
      </p:sp>
      <p:sp>
        <p:nvSpPr>
          <p:cNvPr id="6" name="Picture Placeholder 11" descr="Image placeholder. Click icon to add image. Images are available to download from the Brand Source image library.">
            <a:extLst>
              <a:ext uri="{FF2B5EF4-FFF2-40B4-BE49-F238E27FC236}">
                <a16:creationId xmlns:a16="http://schemas.microsoft.com/office/drawing/2014/main" id="{2D34D49C-F4FA-B74B-BB7F-2282D91344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0" y="1527176"/>
            <a:ext cx="2281239" cy="4565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itchFamily="34" charset="0"/>
              <a:buNone/>
              <a:defRPr lang="en-AU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US" noProof="0"/>
              <a:t>Click icon to add image. Images are available to download from the Brand Source image library  brand.cgi.com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AD9D05-F87F-396A-A6CA-39A648D5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B2DA29-866C-745A-01A0-4C6BBD502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525A3C56-E491-49B2-93F3-63532DF516B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719156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794BB4-8070-CB70-06F6-0F69C0013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only slide – click to add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C87742-AE32-5B9D-5FE2-AFB515A3B8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965950"/>
            <a:ext cx="4114800" cy="13716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7F76-3BCB-7CAC-C7D7-E0AAD9A9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3034" y="6965950"/>
            <a:ext cx="261660" cy="137160"/>
          </a:xfrm>
        </p:spPr>
        <p:txBody>
          <a:bodyPr/>
          <a:lstStyle/>
          <a:p>
            <a:fld id="{525A3C56-E491-49B2-93F3-63532DF516B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6974101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C605EF0-E4DC-2A4A-909F-D231546F9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67849" y="635964"/>
            <a:ext cx="6090151" cy="2226506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Section divider slide – click to add title 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775705" y="3119636"/>
            <a:ext cx="6082295" cy="205107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spcBef>
                <a:spcPct val="0"/>
              </a:spcBef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subtitle,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588DA8-BB1F-017C-4B48-DD35E9D72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68B5-3C81-D649-A62C-3E51DDE91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3C56-E491-49B2-93F3-63532DF516B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857218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AB740-572D-C294-4BA3-D0D9F1D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0C063-BF8A-4F46-5761-033A82D0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BEC50-40F2-8C35-DC5A-B6E5805CE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B76B3-26B8-4AA0-B993-7C919309DF1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EA277-6974-119F-1CBE-12F8852D9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B4F8B-2A2A-981C-3E2C-BC0D915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6E5DD-3966-4102-A099-FCA1926E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5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1E7B-BEF5-B678-42AE-01851FB5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6400"/>
              </a:lnSpc>
            </a:pPr>
            <a:r>
              <a:rPr lang="en-US" sz="6000" dirty="0"/>
              <a:t>Prompt Kickoff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35BD-A344-BBC1-0905-F21B614D68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INNOVATE 2026</a:t>
            </a:r>
            <a:endParaRPr lang="en-US" dirty="0"/>
          </a:p>
        </p:txBody>
      </p:sp>
      <p:pic>
        <p:nvPicPr>
          <p:cNvPr id="5" name="CGI logo" descr="CGI Inc. logo">
            <a:extLst>
              <a:ext uri="{FF2B5EF4-FFF2-40B4-BE49-F238E27FC236}">
                <a16:creationId xmlns:a16="http://schemas.microsoft.com/office/drawing/2014/main" id="{D1D6D45E-0A7A-AC03-C8E8-1D4F62437A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7134" y="5372174"/>
            <a:ext cx="1548656" cy="720650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0E3018-3856-1F34-F280-F452DA1C3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gray">
          <a:xfrm>
            <a:off x="0" y="6322423"/>
            <a:ext cx="12192000" cy="5355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US" sz="1600" b="1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A22D8D-98C6-A43F-3537-86D36CD8D90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651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F79A-8148-3341-5B51-9EF788E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619403"/>
            <a:ext cx="4567237" cy="1783555"/>
          </a:xfrm>
        </p:spPr>
        <p:txBody>
          <a:bodyPr/>
          <a:lstStyle/>
          <a:p>
            <a:r>
              <a:rPr lang="en-US" dirty="0"/>
              <a:t>The Situation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07A836-337F-6DA8-4795-7DDD5325869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805575"/>
            <a:ext cx="6371455" cy="3689867"/>
          </a:xfrm>
        </p:spPr>
        <p:txBody>
          <a:bodyPr/>
          <a:lstStyle/>
          <a:p>
            <a:pPr>
              <a:buNone/>
            </a:pPr>
            <a:r>
              <a:rPr lang="en-US" sz="1600" dirty="0"/>
              <a:t>Multiple global sectors are experiencing simultaneous instability.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Across regions, critical supply chains are showing: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Rapid inventory depletion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Unexpected stock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Escalating field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Infrastructure strain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Civilian impact risk</a:t>
            </a:r>
          </a:p>
          <a:p>
            <a:endParaRPr lang="en-US" sz="1600" dirty="0"/>
          </a:p>
          <a:p>
            <a:pPr>
              <a:buNone/>
            </a:pPr>
            <a:r>
              <a:rPr lang="en-US" sz="1600" dirty="0"/>
              <a:t>Field operatives are submitting urgent intelligence updates —</a:t>
            </a:r>
            <a:br>
              <a:rPr lang="en-US" sz="1600" dirty="0"/>
            </a:br>
            <a:r>
              <a:rPr lang="en-US" sz="1600" dirty="0"/>
              <a:t>but those reports contain </a:t>
            </a:r>
            <a:r>
              <a:rPr lang="en-US" sz="1600" b="1" dirty="0"/>
              <a:t>sensitive identity and contact information</a:t>
            </a:r>
            <a:r>
              <a:rPr lang="en-US" sz="1600" dirty="0"/>
              <a:t>.</a:t>
            </a:r>
          </a:p>
          <a:p>
            <a:pPr>
              <a:spcBef>
                <a:spcPts val="3000"/>
              </a:spcBef>
              <a:spcAft>
                <a:spcPts val="1600"/>
              </a:spcAft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345078-9FCE-2A8F-CE33-90919F3CB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68000" y="-342900"/>
            <a:ext cx="1524000" cy="342900"/>
          </a:xfrm>
          <a:prstGeom prst="rect">
            <a:avLst/>
          </a:prstGeom>
          <a:solidFill>
            <a:srgbClr val="200A5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r>
              <a:rPr lang="en-US" sz="1600" b="1" spc="200">
                <a:solidFill>
                  <a:schemeClr val="bg1"/>
                </a:solidFill>
                <a:cs typeface="Arial" pitchFamily="34" charset="0"/>
              </a:rPr>
              <a:t>NEW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13DA460-74E7-DB1D-55D1-C573AE950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14688" y="932323"/>
            <a:ext cx="4672667" cy="4671275"/>
          </a:xfrm>
        </p:spPr>
      </p:pic>
    </p:spTree>
    <p:extLst>
      <p:ext uri="{BB962C8B-B14F-4D97-AF65-F5344CB8AC3E}">
        <p14:creationId xmlns:p14="http://schemas.microsoft.com/office/powerpoint/2010/main" val="427372852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8826-B413-26C4-7961-F4BB3217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3B6D-E28A-16C9-5575-853CF6DD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619403"/>
            <a:ext cx="4567237" cy="1783555"/>
          </a:xfrm>
        </p:spPr>
        <p:txBody>
          <a:bodyPr/>
          <a:lstStyle/>
          <a:p>
            <a:r>
              <a:rPr lang="en-US" dirty="0"/>
              <a:t>The Challenge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4CA09D-3BFA-2F85-8934-16038DA5D0B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4" y="1805575"/>
            <a:ext cx="5516050" cy="3689867"/>
          </a:xfrm>
        </p:spPr>
        <p:txBody>
          <a:bodyPr/>
          <a:lstStyle/>
          <a:p>
            <a:r>
              <a:rPr lang="en-US" sz="1600" dirty="0"/>
              <a:t>You must design a centralized Command &amp; Control system capable of: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Aggregating historical resource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Processing live field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Forecasting depletion timelines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Protecting sensitive personal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Delivering actionable operational visibility</a:t>
            </a:r>
          </a:p>
          <a:p>
            <a:pPr>
              <a:spcBef>
                <a:spcPts val="3000"/>
              </a:spcBef>
              <a:spcAft>
                <a:spcPts val="1600"/>
              </a:spcAft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7DD018-1F78-FD99-64D7-E00DB9C1B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68000" y="-342900"/>
            <a:ext cx="1524000" cy="342900"/>
          </a:xfrm>
          <a:prstGeom prst="rect">
            <a:avLst/>
          </a:prstGeom>
          <a:solidFill>
            <a:srgbClr val="200A5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r>
              <a:rPr lang="en-US" sz="1600" b="1" spc="200">
                <a:solidFill>
                  <a:schemeClr val="bg1"/>
                </a:solidFill>
                <a:cs typeface="Arial" pitchFamily="34" charset="0"/>
              </a:rPr>
              <a:t>NEW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B11188F-9765-1BFF-D964-60BFE9D0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14688" y="932323"/>
            <a:ext cx="4672667" cy="4671275"/>
          </a:xfrm>
        </p:spPr>
      </p:pic>
    </p:spTree>
    <p:extLst>
      <p:ext uri="{BB962C8B-B14F-4D97-AF65-F5344CB8AC3E}">
        <p14:creationId xmlns:p14="http://schemas.microsoft.com/office/powerpoint/2010/main" val="15091218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F08378-76A4-6172-D2B6-B1B99BC4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668160"/>
            <a:ext cx="10658475" cy="532765"/>
          </a:xfrm>
        </p:spPr>
        <p:txBody>
          <a:bodyPr>
            <a:normAutofit fontScale="90000"/>
          </a:bodyPr>
          <a:lstStyle/>
          <a:p>
            <a:r>
              <a:rPr lang="en-US" dirty="0"/>
              <a:t>You are building…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6B24906-C62C-AF59-E65C-32A3D0B59422}"/>
              </a:ext>
            </a:extLst>
          </p:cNvPr>
          <p:cNvSpPr txBox="1">
            <a:spLocks/>
          </p:cNvSpPr>
          <p:nvPr/>
        </p:nvSpPr>
        <p:spPr>
          <a:xfrm>
            <a:off x="1219200" y="1582796"/>
            <a:ext cx="7117975" cy="7271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  <a:defRPr/>
            </a:pPr>
            <a:r>
              <a:rPr lang="en-US" sz="1600" dirty="0"/>
              <a:t>A centralized Command &amp; Control dashboard</a:t>
            </a:r>
            <a:endParaRPr lang="en-US" sz="15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E932F2B-4AC3-AB21-9E4D-59B0235D3EAE}"/>
              </a:ext>
            </a:extLst>
          </p:cNvPr>
          <p:cNvSpPr txBox="1">
            <a:spLocks/>
          </p:cNvSpPr>
          <p:nvPr/>
        </p:nvSpPr>
        <p:spPr>
          <a:xfrm>
            <a:off x="1219200" y="2607340"/>
            <a:ext cx="7117975" cy="7271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  <a:defRPr/>
            </a:pPr>
            <a:r>
              <a:rPr lang="en-US" sz="1600" dirty="0"/>
              <a:t>Real-time analytics</a:t>
            </a:r>
            <a:endParaRPr lang="en-US" sz="1500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664C09B2-D1B4-E646-927A-2478926F1B4B}"/>
              </a:ext>
            </a:extLst>
          </p:cNvPr>
          <p:cNvSpPr txBox="1">
            <a:spLocks/>
          </p:cNvSpPr>
          <p:nvPr/>
        </p:nvSpPr>
        <p:spPr>
          <a:xfrm>
            <a:off x="1219200" y="3631884"/>
            <a:ext cx="7117975" cy="7271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  <a:defRPr/>
            </a:pPr>
            <a:r>
              <a:rPr lang="en-US" sz="1600" dirty="0"/>
              <a:t>Predictive resource forecasting</a:t>
            </a:r>
            <a:endParaRPr lang="en-US" sz="1500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8E0AB9A-92D4-7EAB-B00A-0039899E4149}"/>
              </a:ext>
            </a:extLst>
          </p:cNvPr>
          <p:cNvSpPr txBox="1">
            <a:spLocks/>
          </p:cNvSpPr>
          <p:nvPr/>
        </p:nvSpPr>
        <p:spPr>
          <a:xfrm>
            <a:off x="1219199" y="4630970"/>
            <a:ext cx="7117975" cy="7271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  <a:defRPr/>
            </a:pPr>
            <a:r>
              <a:rPr lang="en-US" sz="1600" dirty="0"/>
              <a:t>Secure intelligence processing</a:t>
            </a:r>
            <a:endParaRPr lang="en-US" sz="15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E157414-84EE-7864-9C36-BF991ABE1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59918" y="1557338"/>
            <a:ext cx="303558" cy="303428"/>
          </a:xfrm>
          <a:custGeom>
            <a:avLst/>
            <a:gdLst>
              <a:gd name="connsiteX0" fmla="*/ 321098 w 453568"/>
              <a:gd name="connsiteY0" fmla="*/ 136019 h 453376"/>
              <a:gd name="connsiteX1" fmla="*/ 333518 w 453568"/>
              <a:gd name="connsiteY1" fmla="*/ 138908 h 453376"/>
              <a:gd name="connsiteX2" fmla="*/ 337314 w 453568"/>
              <a:gd name="connsiteY2" fmla="*/ 162130 h 453376"/>
              <a:gd name="connsiteX3" fmla="*/ 228416 w 453568"/>
              <a:gd name="connsiteY3" fmla="*/ 313575 h 453376"/>
              <a:gd name="connsiteX4" fmla="*/ 205142 w 453568"/>
              <a:gd name="connsiteY4" fmla="*/ 317379 h 453376"/>
              <a:gd name="connsiteX5" fmla="*/ 114457 w 453568"/>
              <a:gd name="connsiteY5" fmla="*/ 252149 h 453376"/>
              <a:gd name="connsiteX6" fmla="*/ 110662 w 453568"/>
              <a:gd name="connsiteY6" fmla="*/ 228930 h 453376"/>
              <a:gd name="connsiteX7" fmla="*/ 133936 w 453568"/>
              <a:gd name="connsiteY7" fmla="*/ 225126 h 453376"/>
              <a:gd name="connsiteX8" fmla="*/ 211089 w 453568"/>
              <a:gd name="connsiteY8" fmla="*/ 280676 h 453376"/>
              <a:gd name="connsiteX9" fmla="*/ 310244 w 453568"/>
              <a:gd name="connsiteY9" fmla="*/ 142712 h 453376"/>
              <a:gd name="connsiteX10" fmla="*/ 321098 w 453568"/>
              <a:gd name="connsiteY10" fmla="*/ 136019 h 453376"/>
              <a:gd name="connsiteX11" fmla="*/ 226782 w 453568"/>
              <a:gd name="connsiteY11" fmla="*/ 33263 h 453376"/>
              <a:gd name="connsiteX12" fmla="*/ 33460 w 453568"/>
              <a:gd name="connsiteY12" fmla="*/ 226699 h 453376"/>
              <a:gd name="connsiteX13" fmla="*/ 226782 w 453568"/>
              <a:gd name="connsiteY13" fmla="*/ 420113 h 453376"/>
              <a:gd name="connsiteX14" fmla="*/ 420112 w 453568"/>
              <a:gd name="connsiteY14" fmla="*/ 226699 h 453376"/>
              <a:gd name="connsiteX15" fmla="*/ 226782 w 453568"/>
              <a:gd name="connsiteY15" fmla="*/ 33263 h 453376"/>
              <a:gd name="connsiteX16" fmla="*/ 226782 w 453568"/>
              <a:gd name="connsiteY16" fmla="*/ 0 h 453376"/>
              <a:gd name="connsiteX17" fmla="*/ 453568 w 453568"/>
              <a:gd name="connsiteY17" fmla="*/ 226699 h 453376"/>
              <a:gd name="connsiteX18" fmla="*/ 226782 w 453568"/>
              <a:gd name="connsiteY18" fmla="*/ 453376 h 453376"/>
              <a:gd name="connsiteX19" fmla="*/ 0 w 453568"/>
              <a:gd name="connsiteY19" fmla="*/ 226699 h 453376"/>
              <a:gd name="connsiteX20" fmla="*/ 0 w 453568"/>
              <a:gd name="connsiteY20" fmla="*/ 226673 h 453376"/>
              <a:gd name="connsiteX21" fmla="*/ 226782 w 453568"/>
              <a:gd name="connsiteY21" fmla="*/ 0 h 4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3568" h="453376">
                <a:moveTo>
                  <a:pt x="321098" y="136019"/>
                </a:moveTo>
                <a:cubicBezTo>
                  <a:pt x="325293" y="135333"/>
                  <a:pt x="329749" y="136245"/>
                  <a:pt x="333518" y="138908"/>
                </a:cubicBezTo>
                <a:cubicBezTo>
                  <a:pt x="341062" y="144260"/>
                  <a:pt x="342760" y="154651"/>
                  <a:pt x="337314" y="162130"/>
                </a:cubicBezTo>
                <a:lnTo>
                  <a:pt x="228416" y="313575"/>
                </a:lnTo>
                <a:cubicBezTo>
                  <a:pt x="222969" y="321054"/>
                  <a:pt x="212686" y="322735"/>
                  <a:pt x="205142" y="317379"/>
                </a:cubicBezTo>
                <a:lnTo>
                  <a:pt x="114457" y="252149"/>
                </a:lnTo>
                <a:cubicBezTo>
                  <a:pt x="106913" y="246796"/>
                  <a:pt x="105215" y="236405"/>
                  <a:pt x="110662" y="228930"/>
                </a:cubicBezTo>
                <a:cubicBezTo>
                  <a:pt x="116109" y="221455"/>
                  <a:pt x="126393" y="219774"/>
                  <a:pt x="133936" y="225126"/>
                </a:cubicBezTo>
                <a:lnTo>
                  <a:pt x="211089" y="280676"/>
                </a:lnTo>
                <a:lnTo>
                  <a:pt x="310244" y="142712"/>
                </a:lnTo>
                <a:cubicBezTo>
                  <a:pt x="312970" y="138987"/>
                  <a:pt x="316904" y="136705"/>
                  <a:pt x="321098" y="136019"/>
                </a:cubicBezTo>
                <a:close/>
                <a:moveTo>
                  <a:pt x="226782" y="33263"/>
                </a:moveTo>
                <a:cubicBezTo>
                  <a:pt x="120109" y="33373"/>
                  <a:pt x="33460" y="119916"/>
                  <a:pt x="33460" y="226699"/>
                </a:cubicBezTo>
                <a:cubicBezTo>
                  <a:pt x="33460" y="333512"/>
                  <a:pt x="120109" y="420113"/>
                  <a:pt x="226782" y="420113"/>
                </a:cubicBezTo>
                <a:cubicBezTo>
                  <a:pt x="333731" y="420113"/>
                  <a:pt x="420112" y="333512"/>
                  <a:pt x="420112" y="226699"/>
                </a:cubicBezTo>
                <a:cubicBezTo>
                  <a:pt x="420112" y="119863"/>
                  <a:pt x="333731" y="33263"/>
                  <a:pt x="226782" y="33263"/>
                </a:cubicBezTo>
                <a:close/>
                <a:moveTo>
                  <a:pt x="226782" y="0"/>
                </a:moveTo>
                <a:cubicBezTo>
                  <a:pt x="352106" y="0"/>
                  <a:pt x="453568" y="101492"/>
                  <a:pt x="453568" y="226699"/>
                </a:cubicBezTo>
                <a:cubicBezTo>
                  <a:pt x="453568" y="351884"/>
                  <a:pt x="352106" y="453376"/>
                  <a:pt x="226782" y="453376"/>
                </a:cubicBezTo>
                <a:cubicBezTo>
                  <a:pt x="101741" y="453236"/>
                  <a:pt x="276" y="351827"/>
                  <a:pt x="0" y="226699"/>
                </a:cubicBezTo>
                <a:cubicBezTo>
                  <a:pt x="0" y="226699"/>
                  <a:pt x="0" y="226699"/>
                  <a:pt x="0" y="226673"/>
                </a:cubicBezTo>
                <a:cubicBezTo>
                  <a:pt x="276" y="101492"/>
                  <a:pt x="101741" y="0"/>
                  <a:pt x="226782" y="0"/>
                </a:cubicBezTo>
                <a:close/>
              </a:path>
            </a:pathLst>
          </a:custGeom>
          <a:solidFill>
            <a:schemeClr val="tx1"/>
          </a:solidFill>
          <a:ln w="72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81EE8D0-C346-D7C6-2ED6-86FA82EE6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59918" y="2581882"/>
            <a:ext cx="303558" cy="303428"/>
          </a:xfrm>
          <a:custGeom>
            <a:avLst/>
            <a:gdLst>
              <a:gd name="connsiteX0" fmla="*/ 321098 w 453568"/>
              <a:gd name="connsiteY0" fmla="*/ 136019 h 453376"/>
              <a:gd name="connsiteX1" fmla="*/ 333518 w 453568"/>
              <a:gd name="connsiteY1" fmla="*/ 138908 h 453376"/>
              <a:gd name="connsiteX2" fmla="*/ 337314 w 453568"/>
              <a:gd name="connsiteY2" fmla="*/ 162130 h 453376"/>
              <a:gd name="connsiteX3" fmla="*/ 228416 w 453568"/>
              <a:gd name="connsiteY3" fmla="*/ 313575 h 453376"/>
              <a:gd name="connsiteX4" fmla="*/ 205142 w 453568"/>
              <a:gd name="connsiteY4" fmla="*/ 317379 h 453376"/>
              <a:gd name="connsiteX5" fmla="*/ 114457 w 453568"/>
              <a:gd name="connsiteY5" fmla="*/ 252149 h 453376"/>
              <a:gd name="connsiteX6" fmla="*/ 110662 w 453568"/>
              <a:gd name="connsiteY6" fmla="*/ 228930 h 453376"/>
              <a:gd name="connsiteX7" fmla="*/ 133936 w 453568"/>
              <a:gd name="connsiteY7" fmla="*/ 225126 h 453376"/>
              <a:gd name="connsiteX8" fmla="*/ 211089 w 453568"/>
              <a:gd name="connsiteY8" fmla="*/ 280676 h 453376"/>
              <a:gd name="connsiteX9" fmla="*/ 310244 w 453568"/>
              <a:gd name="connsiteY9" fmla="*/ 142712 h 453376"/>
              <a:gd name="connsiteX10" fmla="*/ 321098 w 453568"/>
              <a:gd name="connsiteY10" fmla="*/ 136019 h 453376"/>
              <a:gd name="connsiteX11" fmla="*/ 226782 w 453568"/>
              <a:gd name="connsiteY11" fmla="*/ 33263 h 453376"/>
              <a:gd name="connsiteX12" fmla="*/ 33460 w 453568"/>
              <a:gd name="connsiteY12" fmla="*/ 226699 h 453376"/>
              <a:gd name="connsiteX13" fmla="*/ 226782 w 453568"/>
              <a:gd name="connsiteY13" fmla="*/ 420113 h 453376"/>
              <a:gd name="connsiteX14" fmla="*/ 420112 w 453568"/>
              <a:gd name="connsiteY14" fmla="*/ 226699 h 453376"/>
              <a:gd name="connsiteX15" fmla="*/ 226782 w 453568"/>
              <a:gd name="connsiteY15" fmla="*/ 33263 h 453376"/>
              <a:gd name="connsiteX16" fmla="*/ 226782 w 453568"/>
              <a:gd name="connsiteY16" fmla="*/ 0 h 453376"/>
              <a:gd name="connsiteX17" fmla="*/ 453568 w 453568"/>
              <a:gd name="connsiteY17" fmla="*/ 226699 h 453376"/>
              <a:gd name="connsiteX18" fmla="*/ 226782 w 453568"/>
              <a:gd name="connsiteY18" fmla="*/ 453376 h 453376"/>
              <a:gd name="connsiteX19" fmla="*/ 0 w 453568"/>
              <a:gd name="connsiteY19" fmla="*/ 226699 h 453376"/>
              <a:gd name="connsiteX20" fmla="*/ 0 w 453568"/>
              <a:gd name="connsiteY20" fmla="*/ 226673 h 453376"/>
              <a:gd name="connsiteX21" fmla="*/ 226782 w 453568"/>
              <a:gd name="connsiteY21" fmla="*/ 0 h 4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3568" h="453376">
                <a:moveTo>
                  <a:pt x="321098" y="136019"/>
                </a:moveTo>
                <a:cubicBezTo>
                  <a:pt x="325293" y="135333"/>
                  <a:pt x="329749" y="136245"/>
                  <a:pt x="333518" y="138908"/>
                </a:cubicBezTo>
                <a:cubicBezTo>
                  <a:pt x="341062" y="144260"/>
                  <a:pt x="342760" y="154651"/>
                  <a:pt x="337314" y="162130"/>
                </a:cubicBezTo>
                <a:lnTo>
                  <a:pt x="228416" y="313575"/>
                </a:lnTo>
                <a:cubicBezTo>
                  <a:pt x="222969" y="321054"/>
                  <a:pt x="212686" y="322735"/>
                  <a:pt x="205142" y="317379"/>
                </a:cubicBezTo>
                <a:lnTo>
                  <a:pt x="114457" y="252149"/>
                </a:lnTo>
                <a:cubicBezTo>
                  <a:pt x="106913" y="246796"/>
                  <a:pt x="105215" y="236405"/>
                  <a:pt x="110662" y="228930"/>
                </a:cubicBezTo>
                <a:cubicBezTo>
                  <a:pt x="116109" y="221455"/>
                  <a:pt x="126393" y="219774"/>
                  <a:pt x="133936" y="225126"/>
                </a:cubicBezTo>
                <a:lnTo>
                  <a:pt x="211089" y="280676"/>
                </a:lnTo>
                <a:lnTo>
                  <a:pt x="310244" y="142712"/>
                </a:lnTo>
                <a:cubicBezTo>
                  <a:pt x="312970" y="138987"/>
                  <a:pt x="316904" y="136705"/>
                  <a:pt x="321098" y="136019"/>
                </a:cubicBezTo>
                <a:close/>
                <a:moveTo>
                  <a:pt x="226782" y="33263"/>
                </a:moveTo>
                <a:cubicBezTo>
                  <a:pt x="120109" y="33373"/>
                  <a:pt x="33460" y="119916"/>
                  <a:pt x="33460" y="226699"/>
                </a:cubicBezTo>
                <a:cubicBezTo>
                  <a:pt x="33460" y="333512"/>
                  <a:pt x="120109" y="420113"/>
                  <a:pt x="226782" y="420113"/>
                </a:cubicBezTo>
                <a:cubicBezTo>
                  <a:pt x="333731" y="420113"/>
                  <a:pt x="420112" y="333512"/>
                  <a:pt x="420112" y="226699"/>
                </a:cubicBezTo>
                <a:cubicBezTo>
                  <a:pt x="420112" y="119863"/>
                  <a:pt x="333731" y="33263"/>
                  <a:pt x="226782" y="33263"/>
                </a:cubicBezTo>
                <a:close/>
                <a:moveTo>
                  <a:pt x="226782" y="0"/>
                </a:moveTo>
                <a:cubicBezTo>
                  <a:pt x="352106" y="0"/>
                  <a:pt x="453568" y="101492"/>
                  <a:pt x="453568" y="226699"/>
                </a:cubicBezTo>
                <a:cubicBezTo>
                  <a:pt x="453568" y="351884"/>
                  <a:pt x="352106" y="453376"/>
                  <a:pt x="226782" y="453376"/>
                </a:cubicBezTo>
                <a:cubicBezTo>
                  <a:pt x="101741" y="453236"/>
                  <a:pt x="276" y="351827"/>
                  <a:pt x="0" y="226699"/>
                </a:cubicBezTo>
                <a:cubicBezTo>
                  <a:pt x="0" y="226699"/>
                  <a:pt x="0" y="226699"/>
                  <a:pt x="0" y="226673"/>
                </a:cubicBezTo>
                <a:cubicBezTo>
                  <a:pt x="276" y="101492"/>
                  <a:pt x="101741" y="0"/>
                  <a:pt x="226782" y="0"/>
                </a:cubicBezTo>
                <a:close/>
              </a:path>
            </a:pathLst>
          </a:custGeom>
          <a:solidFill>
            <a:schemeClr val="tx1"/>
          </a:solidFill>
          <a:ln w="72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555911E-F42B-C002-E56E-ADDBC19A7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59918" y="3606426"/>
            <a:ext cx="303558" cy="303428"/>
          </a:xfrm>
          <a:custGeom>
            <a:avLst/>
            <a:gdLst>
              <a:gd name="connsiteX0" fmla="*/ 321098 w 453568"/>
              <a:gd name="connsiteY0" fmla="*/ 136019 h 453376"/>
              <a:gd name="connsiteX1" fmla="*/ 333518 w 453568"/>
              <a:gd name="connsiteY1" fmla="*/ 138908 h 453376"/>
              <a:gd name="connsiteX2" fmla="*/ 337314 w 453568"/>
              <a:gd name="connsiteY2" fmla="*/ 162130 h 453376"/>
              <a:gd name="connsiteX3" fmla="*/ 228416 w 453568"/>
              <a:gd name="connsiteY3" fmla="*/ 313575 h 453376"/>
              <a:gd name="connsiteX4" fmla="*/ 205142 w 453568"/>
              <a:gd name="connsiteY4" fmla="*/ 317379 h 453376"/>
              <a:gd name="connsiteX5" fmla="*/ 114457 w 453568"/>
              <a:gd name="connsiteY5" fmla="*/ 252149 h 453376"/>
              <a:gd name="connsiteX6" fmla="*/ 110662 w 453568"/>
              <a:gd name="connsiteY6" fmla="*/ 228930 h 453376"/>
              <a:gd name="connsiteX7" fmla="*/ 133936 w 453568"/>
              <a:gd name="connsiteY7" fmla="*/ 225126 h 453376"/>
              <a:gd name="connsiteX8" fmla="*/ 211089 w 453568"/>
              <a:gd name="connsiteY8" fmla="*/ 280676 h 453376"/>
              <a:gd name="connsiteX9" fmla="*/ 310244 w 453568"/>
              <a:gd name="connsiteY9" fmla="*/ 142712 h 453376"/>
              <a:gd name="connsiteX10" fmla="*/ 321098 w 453568"/>
              <a:gd name="connsiteY10" fmla="*/ 136019 h 453376"/>
              <a:gd name="connsiteX11" fmla="*/ 226782 w 453568"/>
              <a:gd name="connsiteY11" fmla="*/ 33263 h 453376"/>
              <a:gd name="connsiteX12" fmla="*/ 33460 w 453568"/>
              <a:gd name="connsiteY12" fmla="*/ 226699 h 453376"/>
              <a:gd name="connsiteX13" fmla="*/ 226782 w 453568"/>
              <a:gd name="connsiteY13" fmla="*/ 420113 h 453376"/>
              <a:gd name="connsiteX14" fmla="*/ 420112 w 453568"/>
              <a:gd name="connsiteY14" fmla="*/ 226699 h 453376"/>
              <a:gd name="connsiteX15" fmla="*/ 226782 w 453568"/>
              <a:gd name="connsiteY15" fmla="*/ 33263 h 453376"/>
              <a:gd name="connsiteX16" fmla="*/ 226782 w 453568"/>
              <a:gd name="connsiteY16" fmla="*/ 0 h 453376"/>
              <a:gd name="connsiteX17" fmla="*/ 453568 w 453568"/>
              <a:gd name="connsiteY17" fmla="*/ 226699 h 453376"/>
              <a:gd name="connsiteX18" fmla="*/ 226782 w 453568"/>
              <a:gd name="connsiteY18" fmla="*/ 453376 h 453376"/>
              <a:gd name="connsiteX19" fmla="*/ 0 w 453568"/>
              <a:gd name="connsiteY19" fmla="*/ 226699 h 453376"/>
              <a:gd name="connsiteX20" fmla="*/ 0 w 453568"/>
              <a:gd name="connsiteY20" fmla="*/ 226673 h 453376"/>
              <a:gd name="connsiteX21" fmla="*/ 226782 w 453568"/>
              <a:gd name="connsiteY21" fmla="*/ 0 h 4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3568" h="453376">
                <a:moveTo>
                  <a:pt x="321098" y="136019"/>
                </a:moveTo>
                <a:cubicBezTo>
                  <a:pt x="325293" y="135333"/>
                  <a:pt x="329749" y="136245"/>
                  <a:pt x="333518" y="138908"/>
                </a:cubicBezTo>
                <a:cubicBezTo>
                  <a:pt x="341062" y="144260"/>
                  <a:pt x="342760" y="154651"/>
                  <a:pt x="337314" y="162130"/>
                </a:cubicBezTo>
                <a:lnTo>
                  <a:pt x="228416" y="313575"/>
                </a:lnTo>
                <a:cubicBezTo>
                  <a:pt x="222969" y="321054"/>
                  <a:pt x="212686" y="322735"/>
                  <a:pt x="205142" y="317379"/>
                </a:cubicBezTo>
                <a:lnTo>
                  <a:pt x="114457" y="252149"/>
                </a:lnTo>
                <a:cubicBezTo>
                  <a:pt x="106913" y="246796"/>
                  <a:pt x="105215" y="236405"/>
                  <a:pt x="110662" y="228930"/>
                </a:cubicBezTo>
                <a:cubicBezTo>
                  <a:pt x="116109" y="221455"/>
                  <a:pt x="126393" y="219774"/>
                  <a:pt x="133936" y="225126"/>
                </a:cubicBezTo>
                <a:lnTo>
                  <a:pt x="211089" y="280676"/>
                </a:lnTo>
                <a:lnTo>
                  <a:pt x="310244" y="142712"/>
                </a:lnTo>
                <a:cubicBezTo>
                  <a:pt x="312970" y="138987"/>
                  <a:pt x="316904" y="136705"/>
                  <a:pt x="321098" y="136019"/>
                </a:cubicBezTo>
                <a:close/>
                <a:moveTo>
                  <a:pt x="226782" y="33263"/>
                </a:moveTo>
                <a:cubicBezTo>
                  <a:pt x="120109" y="33373"/>
                  <a:pt x="33460" y="119916"/>
                  <a:pt x="33460" y="226699"/>
                </a:cubicBezTo>
                <a:cubicBezTo>
                  <a:pt x="33460" y="333512"/>
                  <a:pt x="120109" y="420113"/>
                  <a:pt x="226782" y="420113"/>
                </a:cubicBezTo>
                <a:cubicBezTo>
                  <a:pt x="333731" y="420113"/>
                  <a:pt x="420112" y="333512"/>
                  <a:pt x="420112" y="226699"/>
                </a:cubicBezTo>
                <a:cubicBezTo>
                  <a:pt x="420112" y="119863"/>
                  <a:pt x="333731" y="33263"/>
                  <a:pt x="226782" y="33263"/>
                </a:cubicBezTo>
                <a:close/>
                <a:moveTo>
                  <a:pt x="226782" y="0"/>
                </a:moveTo>
                <a:cubicBezTo>
                  <a:pt x="352106" y="0"/>
                  <a:pt x="453568" y="101492"/>
                  <a:pt x="453568" y="226699"/>
                </a:cubicBezTo>
                <a:cubicBezTo>
                  <a:pt x="453568" y="351884"/>
                  <a:pt x="352106" y="453376"/>
                  <a:pt x="226782" y="453376"/>
                </a:cubicBezTo>
                <a:cubicBezTo>
                  <a:pt x="101741" y="453236"/>
                  <a:pt x="276" y="351827"/>
                  <a:pt x="0" y="226699"/>
                </a:cubicBezTo>
                <a:cubicBezTo>
                  <a:pt x="0" y="226699"/>
                  <a:pt x="0" y="226699"/>
                  <a:pt x="0" y="226673"/>
                </a:cubicBezTo>
                <a:cubicBezTo>
                  <a:pt x="276" y="101492"/>
                  <a:pt x="101741" y="0"/>
                  <a:pt x="226782" y="0"/>
                </a:cubicBezTo>
                <a:close/>
              </a:path>
            </a:pathLst>
          </a:custGeom>
          <a:solidFill>
            <a:schemeClr val="tx1"/>
          </a:solidFill>
          <a:ln w="72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161BE8A-29B4-E8E1-730F-E7F9F7028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59918" y="4630970"/>
            <a:ext cx="303558" cy="303428"/>
          </a:xfrm>
          <a:custGeom>
            <a:avLst/>
            <a:gdLst>
              <a:gd name="connsiteX0" fmla="*/ 321098 w 453568"/>
              <a:gd name="connsiteY0" fmla="*/ 136019 h 453376"/>
              <a:gd name="connsiteX1" fmla="*/ 333518 w 453568"/>
              <a:gd name="connsiteY1" fmla="*/ 138908 h 453376"/>
              <a:gd name="connsiteX2" fmla="*/ 337314 w 453568"/>
              <a:gd name="connsiteY2" fmla="*/ 162130 h 453376"/>
              <a:gd name="connsiteX3" fmla="*/ 228416 w 453568"/>
              <a:gd name="connsiteY3" fmla="*/ 313575 h 453376"/>
              <a:gd name="connsiteX4" fmla="*/ 205142 w 453568"/>
              <a:gd name="connsiteY4" fmla="*/ 317379 h 453376"/>
              <a:gd name="connsiteX5" fmla="*/ 114457 w 453568"/>
              <a:gd name="connsiteY5" fmla="*/ 252149 h 453376"/>
              <a:gd name="connsiteX6" fmla="*/ 110662 w 453568"/>
              <a:gd name="connsiteY6" fmla="*/ 228930 h 453376"/>
              <a:gd name="connsiteX7" fmla="*/ 133936 w 453568"/>
              <a:gd name="connsiteY7" fmla="*/ 225126 h 453376"/>
              <a:gd name="connsiteX8" fmla="*/ 211089 w 453568"/>
              <a:gd name="connsiteY8" fmla="*/ 280676 h 453376"/>
              <a:gd name="connsiteX9" fmla="*/ 310244 w 453568"/>
              <a:gd name="connsiteY9" fmla="*/ 142712 h 453376"/>
              <a:gd name="connsiteX10" fmla="*/ 321098 w 453568"/>
              <a:gd name="connsiteY10" fmla="*/ 136019 h 453376"/>
              <a:gd name="connsiteX11" fmla="*/ 226782 w 453568"/>
              <a:gd name="connsiteY11" fmla="*/ 33263 h 453376"/>
              <a:gd name="connsiteX12" fmla="*/ 33460 w 453568"/>
              <a:gd name="connsiteY12" fmla="*/ 226699 h 453376"/>
              <a:gd name="connsiteX13" fmla="*/ 226782 w 453568"/>
              <a:gd name="connsiteY13" fmla="*/ 420113 h 453376"/>
              <a:gd name="connsiteX14" fmla="*/ 420112 w 453568"/>
              <a:gd name="connsiteY14" fmla="*/ 226699 h 453376"/>
              <a:gd name="connsiteX15" fmla="*/ 226782 w 453568"/>
              <a:gd name="connsiteY15" fmla="*/ 33263 h 453376"/>
              <a:gd name="connsiteX16" fmla="*/ 226782 w 453568"/>
              <a:gd name="connsiteY16" fmla="*/ 0 h 453376"/>
              <a:gd name="connsiteX17" fmla="*/ 453568 w 453568"/>
              <a:gd name="connsiteY17" fmla="*/ 226699 h 453376"/>
              <a:gd name="connsiteX18" fmla="*/ 226782 w 453568"/>
              <a:gd name="connsiteY18" fmla="*/ 453376 h 453376"/>
              <a:gd name="connsiteX19" fmla="*/ 0 w 453568"/>
              <a:gd name="connsiteY19" fmla="*/ 226699 h 453376"/>
              <a:gd name="connsiteX20" fmla="*/ 0 w 453568"/>
              <a:gd name="connsiteY20" fmla="*/ 226673 h 453376"/>
              <a:gd name="connsiteX21" fmla="*/ 226782 w 453568"/>
              <a:gd name="connsiteY21" fmla="*/ 0 h 4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3568" h="453376">
                <a:moveTo>
                  <a:pt x="321098" y="136019"/>
                </a:moveTo>
                <a:cubicBezTo>
                  <a:pt x="325293" y="135333"/>
                  <a:pt x="329749" y="136245"/>
                  <a:pt x="333518" y="138908"/>
                </a:cubicBezTo>
                <a:cubicBezTo>
                  <a:pt x="341062" y="144260"/>
                  <a:pt x="342760" y="154651"/>
                  <a:pt x="337314" y="162130"/>
                </a:cubicBezTo>
                <a:lnTo>
                  <a:pt x="228416" y="313575"/>
                </a:lnTo>
                <a:cubicBezTo>
                  <a:pt x="222969" y="321054"/>
                  <a:pt x="212686" y="322735"/>
                  <a:pt x="205142" y="317379"/>
                </a:cubicBezTo>
                <a:lnTo>
                  <a:pt x="114457" y="252149"/>
                </a:lnTo>
                <a:cubicBezTo>
                  <a:pt x="106913" y="246796"/>
                  <a:pt x="105215" y="236405"/>
                  <a:pt x="110662" y="228930"/>
                </a:cubicBezTo>
                <a:cubicBezTo>
                  <a:pt x="116109" y="221455"/>
                  <a:pt x="126393" y="219774"/>
                  <a:pt x="133936" y="225126"/>
                </a:cubicBezTo>
                <a:lnTo>
                  <a:pt x="211089" y="280676"/>
                </a:lnTo>
                <a:lnTo>
                  <a:pt x="310244" y="142712"/>
                </a:lnTo>
                <a:cubicBezTo>
                  <a:pt x="312970" y="138987"/>
                  <a:pt x="316904" y="136705"/>
                  <a:pt x="321098" y="136019"/>
                </a:cubicBezTo>
                <a:close/>
                <a:moveTo>
                  <a:pt x="226782" y="33263"/>
                </a:moveTo>
                <a:cubicBezTo>
                  <a:pt x="120109" y="33373"/>
                  <a:pt x="33460" y="119916"/>
                  <a:pt x="33460" y="226699"/>
                </a:cubicBezTo>
                <a:cubicBezTo>
                  <a:pt x="33460" y="333512"/>
                  <a:pt x="120109" y="420113"/>
                  <a:pt x="226782" y="420113"/>
                </a:cubicBezTo>
                <a:cubicBezTo>
                  <a:pt x="333731" y="420113"/>
                  <a:pt x="420112" y="333512"/>
                  <a:pt x="420112" y="226699"/>
                </a:cubicBezTo>
                <a:cubicBezTo>
                  <a:pt x="420112" y="119863"/>
                  <a:pt x="333731" y="33263"/>
                  <a:pt x="226782" y="33263"/>
                </a:cubicBezTo>
                <a:close/>
                <a:moveTo>
                  <a:pt x="226782" y="0"/>
                </a:moveTo>
                <a:cubicBezTo>
                  <a:pt x="352106" y="0"/>
                  <a:pt x="453568" y="101492"/>
                  <a:pt x="453568" y="226699"/>
                </a:cubicBezTo>
                <a:cubicBezTo>
                  <a:pt x="453568" y="351884"/>
                  <a:pt x="352106" y="453376"/>
                  <a:pt x="226782" y="453376"/>
                </a:cubicBezTo>
                <a:cubicBezTo>
                  <a:pt x="101741" y="453236"/>
                  <a:pt x="276" y="351827"/>
                  <a:pt x="0" y="226699"/>
                </a:cubicBezTo>
                <a:cubicBezTo>
                  <a:pt x="0" y="226699"/>
                  <a:pt x="0" y="226699"/>
                  <a:pt x="0" y="226673"/>
                </a:cubicBezTo>
                <a:cubicBezTo>
                  <a:pt x="276" y="101492"/>
                  <a:pt x="101741" y="0"/>
                  <a:pt x="226782" y="0"/>
                </a:cubicBezTo>
                <a:close/>
              </a:path>
            </a:pathLst>
          </a:custGeom>
          <a:solidFill>
            <a:schemeClr val="tx1"/>
          </a:solidFill>
          <a:ln w="72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99EAA8-8CB7-9B37-9F80-98D0EF453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68000" y="-342900"/>
            <a:ext cx="1524000" cy="342900"/>
          </a:xfrm>
          <a:prstGeom prst="rect">
            <a:avLst/>
          </a:prstGeom>
          <a:solidFill>
            <a:srgbClr val="200A5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r>
              <a:rPr lang="en-US" sz="1600" b="1" spc="200">
                <a:solidFill>
                  <a:schemeClr val="bg1"/>
                </a:solidFill>
                <a:cs typeface="Arial" pitchFamily="34" charset="0"/>
              </a:rPr>
              <a:t>NEW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2C572CC-1EFF-CFB6-BBE5-A3F115E2F74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0" r="3600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99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39AF-FA66-D17F-56EC-13CD5252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51BAD-8772-A534-4B8A-52168812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Data</a:t>
            </a:r>
          </a:p>
        </p:txBody>
      </p:sp>
      <p:sp>
        <p:nvSpPr>
          <p:cNvPr id="14" name="Shape 1178">
            <a:extLst>
              <a:ext uri="{FF2B5EF4-FFF2-40B4-BE49-F238E27FC236}">
                <a16:creationId xmlns:a16="http://schemas.microsoft.com/office/drawing/2014/main" id="{2A2EA577-35FF-03C0-9776-87036D8654AF}"/>
              </a:ext>
            </a:extLst>
          </p:cNvPr>
          <p:cNvSpPr txBox="1">
            <a:spLocks noChangeAspect="1"/>
          </p:cNvSpPr>
          <p:nvPr/>
        </p:nvSpPr>
        <p:spPr>
          <a:xfrm>
            <a:off x="760970" y="1778114"/>
            <a:ext cx="3049029" cy="3049029"/>
          </a:xfrm>
          <a:prstGeom prst="ellipse">
            <a:avLst/>
          </a:prstGeom>
          <a:ln w="15875">
            <a:solidFill>
              <a:srgbClr val="9999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91440" rIns="91440" bIns="91440" anchor="ctr" anchorCtr="0">
            <a:no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lang="en-US" sz="1600" dirty="0"/>
              <a:t>10,000-row historical stock dataset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DE575CF-F010-4F9B-3CC4-2A74760FFB0C}"/>
              </a:ext>
            </a:extLst>
          </p:cNvPr>
          <p:cNvSpPr txBox="1">
            <a:spLocks noChangeAspect="1"/>
          </p:cNvSpPr>
          <p:nvPr/>
        </p:nvSpPr>
        <p:spPr>
          <a:xfrm>
            <a:off x="3054560" y="4266214"/>
            <a:ext cx="481278" cy="481278"/>
          </a:xfrm>
          <a:prstGeom prst="ellipse">
            <a:avLst/>
          </a:prstGeom>
          <a:solidFill>
            <a:schemeClr val="bg1"/>
          </a:solidFill>
          <a:ln w="50800">
            <a:gradFill>
              <a:gsLst>
                <a:gs pos="0">
                  <a:srgbClr val="FFCDD2"/>
                </a:gs>
                <a:gs pos="33000">
                  <a:srgbClr val="FF6A00"/>
                </a:gs>
                <a:gs pos="65000">
                  <a:srgbClr val="E31937"/>
                </a:gs>
                <a:gs pos="100000">
                  <a:srgbClr val="991F3D"/>
                </a:gs>
              </a:gsLst>
              <a:lin ang="10800000" scaled="0"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200" b="1">
                <a:latin typeface="+mj-lt"/>
              </a:rPr>
              <a:t>1</a:t>
            </a:r>
          </a:p>
        </p:txBody>
      </p:sp>
      <p:sp>
        <p:nvSpPr>
          <p:cNvPr id="12" name="Shape 1178">
            <a:extLst>
              <a:ext uri="{FF2B5EF4-FFF2-40B4-BE49-F238E27FC236}">
                <a16:creationId xmlns:a16="http://schemas.microsoft.com/office/drawing/2014/main" id="{321EA4E0-46B8-D795-45E5-FD58948B159D}"/>
              </a:ext>
            </a:extLst>
          </p:cNvPr>
          <p:cNvSpPr txBox="1">
            <a:spLocks noChangeAspect="1"/>
          </p:cNvSpPr>
          <p:nvPr/>
        </p:nvSpPr>
        <p:spPr>
          <a:xfrm>
            <a:off x="4562006" y="1778114"/>
            <a:ext cx="3049029" cy="3049029"/>
          </a:xfrm>
          <a:prstGeom prst="ellipse">
            <a:avLst/>
          </a:prstGeom>
          <a:ln w="15875">
            <a:solidFill>
              <a:srgbClr val="9999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91440" rIns="91440" bIns="91440" anchor="ctr" anchorCtr="0">
            <a:no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lang="en-US" sz="1600" dirty="0"/>
              <a:t>200 field intelligence reports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C5051BF-4E36-6FA3-B9D5-A997FFA51942}"/>
              </a:ext>
            </a:extLst>
          </p:cNvPr>
          <p:cNvSpPr txBox="1">
            <a:spLocks noChangeAspect="1"/>
          </p:cNvSpPr>
          <p:nvPr/>
        </p:nvSpPr>
        <p:spPr>
          <a:xfrm>
            <a:off x="6855596" y="4266214"/>
            <a:ext cx="481278" cy="481278"/>
          </a:xfrm>
          <a:prstGeom prst="ellipse">
            <a:avLst/>
          </a:prstGeom>
          <a:solidFill>
            <a:schemeClr val="bg1"/>
          </a:solidFill>
          <a:ln w="50800">
            <a:gradFill>
              <a:gsLst>
                <a:gs pos="0">
                  <a:srgbClr val="FFCDD2"/>
                </a:gs>
                <a:gs pos="33000">
                  <a:srgbClr val="FF6A00"/>
                </a:gs>
                <a:gs pos="65000">
                  <a:srgbClr val="E31937"/>
                </a:gs>
                <a:gs pos="100000">
                  <a:srgbClr val="991F3D"/>
                </a:gs>
              </a:gsLst>
              <a:lin ang="10800000" scaled="0"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2200" b="1">
                <a:solidFill>
                  <a:schemeClr val="tx1"/>
                </a:solidFill>
                <a:latin typeface="+mj-lt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10" name="Shape 1178">
            <a:extLst>
              <a:ext uri="{FF2B5EF4-FFF2-40B4-BE49-F238E27FC236}">
                <a16:creationId xmlns:a16="http://schemas.microsoft.com/office/drawing/2014/main" id="{A9FF4327-120E-E098-7505-AE4EAAFAA144}"/>
              </a:ext>
            </a:extLst>
          </p:cNvPr>
          <p:cNvSpPr txBox="1">
            <a:spLocks noChangeAspect="1"/>
          </p:cNvSpPr>
          <p:nvPr/>
        </p:nvSpPr>
        <p:spPr>
          <a:xfrm>
            <a:off x="8363041" y="1778114"/>
            <a:ext cx="3049029" cy="3049029"/>
          </a:xfrm>
          <a:prstGeom prst="ellipse">
            <a:avLst/>
          </a:prstGeom>
          <a:ln w="15875">
            <a:solidFill>
              <a:srgbClr val="9999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91440" rIns="91440" bIns="91440" anchor="ctr" anchorCtr="0">
            <a:no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lang="en-US" sz="1600" dirty="0"/>
              <a:t>Sensitive identities embedded in text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A88F846-D731-0CD3-428A-879518A1159B}"/>
              </a:ext>
            </a:extLst>
          </p:cNvPr>
          <p:cNvSpPr txBox="1">
            <a:spLocks noChangeAspect="1"/>
          </p:cNvSpPr>
          <p:nvPr/>
        </p:nvSpPr>
        <p:spPr>
          <a:xfrm>
            <a:off x="10656631" y="4266214"/>
            <a:ext cx="481278" cy="481278"/>
          </a:xfrm>
          <a:prstGeom prst="ellipse">
            <a:avLst/>
          </a:prstGeom>
          <a:solidFill>
            <a:schemeClr val="bg1"/>
          </a:solidFill>
          <a:ln w="50800">
            <a:gradFill>
              <a:gsLst>
                <a:gs pos="0">
                  <a:srgbClr val="FFCDD2"/>
                </a:gs>
                <a:gs pos="33000">
                  <a:srgbClr val="FF6A00"/>
                </a:gs>
                <a:gs pos="65000">
                  <a:srgbClr val="E31937"/>
                </a:gs>
                <a:gs pos="100000">
                  <a:srgbClr val="991F3D"/>
                </a:gs>
              </a:gsLst>
              <a:lin ang="10800000" scaled="0"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2200" b="1">
                <a:solidFill>
                  <a:schemeClr val="tx1"/>
                </a:solidFill>
                <a:latin typeface="+mj-lt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22526A-9135-C1A6-36E9-83DC4A327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68000" y="-342900"/>
            <a:ext cx="1524000" cy="342900"/>
          </a:xfrm>
          <a:prstGeom prst="rect">
            <a:avLst/>
          </a:prstGeom>
          <a:solidFill>
            <a:srgbClr val="200A5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r>
              <a:rPr lang="en-US" sz="1600" b="1" spc="200">
                <a:solidFill>
                  <a:schemeClr val="bg1"/>
                </a:solidFill>
                <a:cs typeface="Arial" pitchFamily="34" charset="0"/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24611063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AD30-F25D-559B-D3AE-3905DE82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Your Starter Package (ZIP File)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36676B-02CF-D257-EEF6-0AE47209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757619" y="2279704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21CDFF-6CBB-8BDC-1D10-10F6584C0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569259" y="2279704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CD8094-A87C-50E4-9D30-EE7CE59DD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8380899" y="2279704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59812C-048E-F8A3-D065-0F160A81E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757619" y="4379415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0B0F3B-F571-E8E0-C270-8646095E2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569259" y="4379415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7481ADF-906E-C6CB-848A-8182552BD293}"/>
              </a:ext>
            </a:extLst>
          </p:cNvPr>
          <p:cNvSpPr/>
          <p:nvPr/>
        </p:nvSpPr>
        <p:spPr>
          <a:xfrm>
            <a:off x="763743" y="1883142"/>
            <a:ext cx="419987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fontAlgn="base">
              <a:spcBef>
                <a:spcPts val="600"/>
              </a:spcBef>
              <a:defRPr/>
            </a:pPr>
            <a:r>
              <a:rPr lang="en-US" sz="1600" b="1" dirty="0">
                <a:latin typeface="+mj-lt"/>
              </a:rPr>
              <a:t>CSV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CEF444E-10E0-F1AA-5EF6-0BF0F76992C5}"/>
              </a:ext>
            </a:extLst>
          </p:cNvPr>
          <p:cNvSpPr txBox="1">
            <a:spLocks/>
          </p:cNvSpPr>
          <p:nvPr/>
        </p:nvSpPr>
        <p:spPr>
          <a:xfrm>
            <a:off x="766763" y="2466339"/>
            <a:ext cx="3060000" cy="860790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/>
              <a:t>10,000 time-series resource records </a:t>
            </a:r>
            <a:endParaRPr lang="en-US" sz="1400" dirty="0">
              <a:solidFill>
                <a:srgbClr val="000000"/>
              </a:solidFill>
            </a:endParaRP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Multi-sector inventory history</a:t>
            </a:r>
          </a:p>
          <a:p>
            <a:pPr marL="17145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Includes anomaly events for forecasting robustness</a:t>
            </a:r>
          </a:p>
          <a:p>
            <a:pPr marL="17145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0047F6-74C7-32A3-DF5E-6228A3810F2F}"/>
              </a:ext>
            </a:extLst>
          </p:cNvPr>
          <p:cNvSpPr/>
          <p:nvPr/>
        </p:nvSpPr>
        <p:spPr>
          <a:xfrm>
            <a:off x="4578402" y="1883142"/>
            <a:ext cx="557845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fontAlgn="base">
              <a:spcBef>
                <a:spcPts val="600"/>
              </a:spcBef>
              <a:defRPr/>
            </a:pPr>
            <a:r>
              <a:rPr lang="en-US" sz="1600" b="1" dirty="0">
                <a:latin typeface="+mj-lt"/>
              </a:rPr>
              <a:t>JSON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8EA0700-F3E9-5B80-78B9-01834055F833}"/>
              </a:ext>
            </a:extLst>
          </p:cNvPr>
          <p:cNvSpPr txBox="1">
            <a:spLocks/>
          </p:cNvSpPr>
          <p:nvPr/>
        </p:nvSpPr>
        <p:spPr>
          <a:xfrm>
            <a:off x="4560000" y="2433450"/>
            <a:ext cx="3060000" cy="860790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200 unstructured intelligence reports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Contains embedded sensitive identity/contact data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Designed for NLP entity extraction</a:t>
            </a:r>
          </a:p>
          <a:p>
            <a:pPr marL="0" lvl="0" indent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None/>
              <a:defRPr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F7715-2F99-8773-BE24-F248DAB8C3D2}"/>
              </a:ext>
            </a:extLst>
          </p:cNvPr>
          <p:cNvSpPr/>
          <p:nvPr/>
        </p:nvSpPr>
        <p:spPr>
          <a:xfrm>
            <a:off x="8388872" y="1883142"/>
            <a:ext cx="3206006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fontAlgn="base">
              <a:spcBef>
                <a:spcPts val="600"/>
              </a:spcBef>
              <a:defRPr/>
            </a:pPr>
            <a:r>
              <a:rPr lang="en-US" sz="1600" b="1" dirty="0">
                <a:latin typeface="+mj-lt"/>
              </a:rPr>
              <a:t>Developer Implementation Guide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B00D153B-AF4F-47F1-EEE8-95AE498DC7B0}"/>
              </a:ext>
            </a:extLst>
          </p:cNvPr>
          <p:cNvSpPr txBox="1">
            <a:spLocks/>
          </p:cNvSpPr>
          <p:nvPr/>
        </p:nvSpPr>
        <p:spPr>
          <a:xfrm>
            <a:off x="8382000" y="2433450"/>
            <a:ext cx="3060000" cy="860790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Recommended system architecture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Suggested implementation phases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AI/ML + security integration guidance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8F9FC4-9055-4D05-4281-D0E641E6F726}"/>
              </a:ext>
            </a:extLst>
          </p:cNvPr>
          <p:cNvSpPr/>
          <p:nvPr/>
        </p:nvSpPr>
        <p:spPr>
          <a:xfrm>
            <a:off x="763743" y="3982853"/>
            <a:ext cx="22121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fontAlgn="base">
              <a:spcBef>
                <a:spcPts val="600"/>
              </a:spcBef>
              <a:defRPr/>
            </a:pPr>
            <a:r>
              <a:rPr lang="en-US" sz="1600" b="1" dirty="0">
                <a:latin typeface="+mj-lt"/>
              </a:rPr>
              <a:t>Presentation Checklist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61DD73D0-F6B1-DCEF-3562-1D9F82A1FBAD}"/>
              </a:ext>
            </a:extLst>
          </p:cNvPr>
          <p:cNvSpPr txBox="1">
            <a:spLocks/>
          </p:cNvSpPr>
          <p:nvPr/>
        </p:nvSpPr>
        <p:spPr>
          <a:xfrm>
            <a:off x="766763" y="4533161"/>
            <a:ext cx="3060000" cy="860790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5-minute demo structure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Golden Path expectations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Final judging alignment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A6F76E-9CC5-97AB-FA6B-22187488AC40}"/>
              </a:ext>
            </a:extLst>
          </p:cNvPr>
          <p:cNvSpPr/>
          <p:nvPr/>
        </p:nvSpPr>
        <p:spPr>
          <a:xfrm>
            <a:off x="4578402" y="3982853"/>
            <a:ext cx="886461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fontAlgn="base">
              <a:spcBef>
                <a:spcPts val="600"/>
              </a:spcBef>
              <a:defRPr/>
            </a:pPr>
            <a:r>
              <a:rPr lang="en-US" sz="1600" b="1" dirty="0">
                <a:latin typeface="+mj-lt"/>
              </a:rPr>
              <a:t>README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E998EA45-66FC-5475-FBB5-0D2937DEB601}"/>
              </a:ext>
            </a:extLst>
          </p:cNvPr>
          <p:cNvSpPr txBox="1">
            <a:spLocks/>
          </p:cNvSpPr>
          <p:nvPr/>
        </p:nvSpPr>
        <p:spPr>
          <a:xfrm>
            <a:off x="4560000" y="4533161"/>
            <a:ext cx="3060000" cy="860790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Deployment expectations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Submission expectations</a:t>
            </a:r>
          </a:p>
          <a:p>
            <a:pPr marL="171450" lvl="0" indent="-17145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B3B3B3"/>
              </a:buClr>
              <a:buFont typeface="Arial" panose="020B0604020202020204" pitchFamily="34" charset="0"/>
              <a:buChar char="›"/>
              <a:defRPr/>
            </a:pPr>
            <a:r>
              <a:rPr lang="en-US" sz="1400" dirty="0">
                <a:solidFill>
                  <a:srgbClr val="000000"/>
                </a:solidFill>
              </a:rPr>
              <a:t>Environment setup guidance</a:t>
            </a:r>
          </a:p>
        </p:txBody>
      </p:sp>
    </p:spTree>
    <p:extLst>
      <p:ext uri="{BB962C8B-B14F-4D97-AF65-F5344CB8AC3E}">
        <p14:creationId xmlns:p14="http://schemas.microsoft.com/office/powerpoint/2010/main" val="67528263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BD00-FE32-4A89-9C79-E9A28F4D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0DB2-6A17-DA5B-15C8-B24F7ED7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619403"/>
            <a:ext cx="4567237" cy="1783555"/>
          </a:xfrm>
        </p:spPr>
        <p:txBody>
          <a:bodyPr/>
          <a:lstStyle/>
          <a:p>
            <a:r>
              <a:rPr lang="en-US" dirty="0"/>
              <a:t>Judging Rubric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AC505E-3D1F-6DB6-0D9E-940825603F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4" y="1913731"/>
            <a:ext cx="5516050" cy="36898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40% —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20% — Intelligent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20% —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20% — UI &amp; Professionalism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21069-1D11-86C4-7F15-13CBA4B34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68000" y="-342900"/>
            <a:ext cx="1524000" cy="342900"/>
          </a:xfrm>
          <a:prstGeom prst="rect">
            <a:avLst/>
          </a:prstGeom>
          <a:solidFill>
            <a:srgbClr val="200A5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r>
              <a:rPr lang="en-US" sz="1600" b="1" spc="200">
                <a:solidFill>
                  <a:schemeClr val="bg1"/>
                </a:solidFill>
                <a:cs typeface="Arial" pitchFamily="34" charset="0"/>
              </a:rPr>
              <a:t>NEW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9A882A3-4E10-B3B3-D82F-215D0D4AC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14688" y="932323"/>
            <a:ext cx="4672667" cy="4671275"/>
          </a:xfr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3D5FC6-7664-6B91-0D4A-D2CDB846F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8380899" y="4379415"/>
            <a:ext cx="3060000" cy="0"/>
          </a:xfrm>
          <a:prstGeom prst="line">
            <a:avLst/>
          </a:prstGeom>
          <a:noFill/>
          <a:ln w="31750" cap="rnd">
            <a:gradFill flip="none" rotWithShape="1">
              <a:gsLst>
                <a:gs pos="66000">
                  <a:srgbClr val="E31937"/>
                </a:gs>
                <a:gs pos="0">
                  <a:srgbClr val="FFCDD2"/>
                </a:gs>
                <a:gs pos="33000">
                  <a:srgbClr val="FF6A00"/>
                </a:gs>
                <a:gs pos="100000">
                  <a:srgbClr val="991F3D"/>
                </a:gs>
              </a:gsLst>
              <a:lin ang="10800000" scaled="0"/>
              <a:tileRect/>
            </a:gradFill>
            <a:round/>
            <a:headEnd/>
            <a:tailEnd/>
          </a:ln>
          <a:effectLst/>
        </p:spPr>
      </p:cxnSp>
    </p:spTree>
    <p:extLst>
      <p:ext uri="{BB962C8B-B14F-4D97-AF65-F5344CB8AC3E}">
        <p14:creationId xmlns:p14="http://schemas.microsoft.com/office/powerpoint/2010/main" val="21241076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AEC2-9663-25BF-FBA2-04A270B7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49" y="635964"/>
            <a:ext cx="6090151" cy="2226506"/>
          </a:xfrm>
        </p:spPr>
        <p:txBody>
          <a:bodyPr/>
          <a:lstStyle/>
          <a:p>
            <a:r>
              <a:rPr lang="en-US" dirty="0"/>
              <a:t>Good Luck!!!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DF459DE-6D64-275D-83DE-B453AE8D3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472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2499B1C432BE49962EC957E12CEF7C" ma:contentTypeVersion="10" ma:contentTypeDescription="Create a new document." ma:contentTypeScope="" ma:versionID="da4735e4793a8672e728eb6ce950b1b4">
  <xsd:schema xmlns:xsd="http://www.w3.org/2001/XMLSchema" xmlns:xs="http://www.w3.org/2001/XMLSchema" xmlns:p="http://schemas.microsoft.com/office/2006/metadata/properties" xmlns:ns3="085422da-4e40-43d7-a977-76c2d46f5192" targetNamespace="http://schemas.microsoft.com/office/2006/metadata/properties" ma:root="true" ma:fieldsID="6d5a9b33f58027c699562e1367c5f5f0" ns3:_="">
    <xsd:import namespace="085422da-4e40-43d7-a977-76c2d46f519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422da-4e40-43d7-a977-76c2d46f519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5422da-4e40-43d7-a977-76c2d46f5192" xsi:nil="true"/>
  </documentManagement>
</p:properties>
</file>

<file path=customXml/itemProps1.xml><?xml version="1.0" encoding="utf-8"?>
<ds:datastoreItem xmlns:ds="http://schemas.openxmlformats.org/officeDocument/2006/customXml" ds:itemID="{5A70A968-6F1B-487E-92F6-2472ABA177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779337-9781-4C89-A943-04364F6EE0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5422da-4e40-43d7-a977-76c2d46f51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0A7E2B-009F-49C4-9C82-5BD8408E9833}">
  <ds:schemaRefs>
    <ds:schemaRef ds:uri="085422da-4e40-43d7-a977-76c2d46f519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230</Words>
  <Application>Microsoft Office PowerPoint</Application>
  <PresentationFormat>Widescreen</PresentationFormat>
  <Paragraphs>67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Prompt Kickoff </vt:lpstr>
      <vt:lpstr>The Situation</vt:lpstr>
      <vt:lpstr>The Challenge</vt:lpstr>
      <vt:lpstr>You are building…</vt:lpstr>
      <vt:lpstr>Your Data</vt:lpstr>
      <vt:lpstr>Inside Your Starter Package (ZIP File)</vt:lpstr>
      <vt:lpstr>Judging Rubric</vt:lpstr>
      <vt:lpstr>Good Luck!!!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Crider, Brooklyn R</dc:creator>
  <cp:lastModifiedBy>Crider, Brooklyn R</cp:lastModifiedBy>
  <cp:revision>3</cp:revision>
  <dcterms:created xsi:type="dcterms:W3CDTF">2026-02-28T16:40:17Z</dcterms:created>
  <dcterms:modified xsi:type="dcterms:W3CDTF">2026-03-01T02:55:24Z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0x010100F02499B1C432BE49962EC957E12CEF7C</vt:lpwstr>
  </property>
</Properties>
</file>